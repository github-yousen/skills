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</a:defRPr>
            </a:pPr>
            <a:r>
              <a:t>AI TECH SUMMIT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E0E0FF"/>
                </a:solidFill>
              </a:defRPr>
            </a:pPr>
            <a:r>
              <a:t>探索人工智能的无限可能</a:t>
            </a:r>
          </a:p>
        </p:txBody>
      </p:sp>
      <p:timing>
        <p:tnLst>
          <p:par>
            <p:cTn id="1" dur="indefinite" restart="never">
              <p:childTnLst>
                <p:seq concurrent="1" nextAc="seek">
                  <p:cTn id="2" dur="indefinite" nodeType="mainSeq">
                    <p:childTnLst>
                      <p:par>
                        <p:cTn id="101" fill="hold">
                          <p:stCondLst>
                            <p:cond delay="indefinite" evt="onClick"/>
                          </p:stCondLst>
                          <p:childTnLst>
                            <p:par>
                              <p:cTn id="201" fill="hold" presetClass="entr" presetID="1" presetSubtype="0">
                                <p:stCondLst>
                                  <p:cond delay="0"/>
                                </p:stCondLst>
                                <p:childTnLst>
                                  <p:set>
                                    <p:cBhvr override="childStyle">
                                      <p:cTn id="301" dur="500" fill="hold"/>
                                      <p:tgtEl>
                                        <p:spTgt spid="3"/>
                                      </p:tgtEl>
                                      <p:attrNameLst>
                                        <p:attrName>style.visibility</p:attrName>
                                      </p:attrNameLst>
                                    </p:cBhvr>
                                    <p:to>
                                      <p:strVal val="visible"/>
                                    </p:to>
                                  </p:set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</p:seq>
              </p:childTnLst>
            </p:cTn>
          </p:par>
        </p:tnLst>
      </p:timing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A0A1A"/>
                </a:solidFill>
              </a:defRPr>
            </a:pPr>
            <a:r>
              <a:t>大模型技术演进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4FF"/>
                </a:solidFill>
              </a:defRPr>
            </a:pPr>
            <a:r>
              <a:t>模型规模对比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E0E0FF"/>
                </a:solidFill>
              </a:defRPr>
            </a:pPr>
            <a:r>
              <a:t>• GPT-5: 1.8T 参数，多模态原生架构</a:t>
            </a:r>
          </a:p>
          <a:p>
            <a:pPr>
              <a:spcAft>
                <a:spcPts val="1400"/>
              </a:spcAft>
              <a:defRPr sz="1600">
                <a:solidFill>
                  <a:srgbClr val="E0E0FF"/>
                </a:solidFill>
              </a:defRPr>
            </a:pPr>
            <a:r>
              <a:t>• Claude Opus 4.7: 2.1T 参数，推理能力突破</a:t>
            </a:r>
          </a:p>
          <a:p>
            <a:pPr>
              <a:spcAft>
                <a:spcPts val="1400"/>
              </a:spcAft>
              <a:defRPr sz="1600">
                <a:solidFill>
                  <a:srgbClr val="E0E0FF"/>
                </a:solidFill>
              </a:defRPr>
            </a:pPr>
            <a:r>
              <a:t>• Gemini Ultra 2: 1.5T 参数，长上下文128K</a:t>
            </a:r>
          </a:p>
          <a:p>
            <a:pPr>
              <a:spcAft>
                <a:spcPts val="1400"/>
              </a:spcAft>
              <a:defRPr sz="1600">
                <a:solidFill>
                  <a:srgbClr val="E0E0FF"/>
                </a:solidFill>
              </a:defRPr>
            </a:pPr>
            <a:r>
              <a:t>• DeepSeek-V4: 671B 参数，成本效率领先</a:t>
            </a:r>
          </a:p>
        </p:txBody>
      </p:sp>
      <p:timing>
        <p:tnLst>
          <p:par>
            <p:cTn id="1" dur="indefinite" restart="never">
              <p:childTnLst>
                <p:seq concurrent="1" nextAc="seek">
                  <p:cTn id="2" dur="indefinite" nodeType="mainSeq">
                    <p:childTnLst>
                      <p:par>
                        <p:cTn id="101" fill="hold">
                          <p:stCondLst>
                            <p:cond delay="indefinite" evt="onClick"/>
                          </p:stCondLst>
                          <p:childTnLst>
                            <p:par>
                              <p:cTn id="201" fill="hold" presetClass="entr" presetID="1" presetSubtype="0">
                                <p:stCondLst>
                                  <p:cond delay="0"/>
                                </p:stCondLst>
                                <p:childTnLst>
                                  <p:set>
                                    <p:cBhvr override="childStyle">
                                      <p:cTn id="301" dur="500" fill="hold"/>
                                      <p:tgtEl>
                                        <p:spTgt spid="3"/>
                                      </p:tgtEl>
                                      <p:attrNameLst>
                                        <p:attrName>style.visibility</p:attrName>
                                      </p:attrNameLst>
                                    </p:cBhvr>
                                    <p:to>
                                      <p:strVal val="visible"/>
                                    </p:to>
                                  </p:set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</p:seq>
              </p:childTnLst>
            </p:cTn>
          </p:par>
        </p:tnLst>
      </p:timing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