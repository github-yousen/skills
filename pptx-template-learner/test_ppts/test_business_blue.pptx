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3A5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64592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</a:defRPr>
            </a:pPr>
            <a:r>
              <a:t>2026年度战略规划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926080"/>
            <a:ext cx="73152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B0C4DE"/>
                </a:solidFill>
              </a:defRPr>
            </a:pPr>
            <a:r>
              <a:t>战略部 · 2026年Q1</a:t>
            </a:r>
          </a:p>
        </p:txBody>
      </p:sp>
      <p:sp>
        <p:nvSpPr>
          <p:cNvPr id="4" name="Rectangle 3"/>
          <p:cNvSpPr/>
          <p:nvPr/>
        </p:nvSpPr>
        <p:spPr>
          <a:xfrm>
            <a:off x="3200400" y="2834640"/>
            <a:ext cx="2743200" cy="18288"/>
          </a:xfrm>
          <a:prstGeom prst="rect">
            <a:avLst/>
          </a:prstGeom>
          <a:solidFill>
            <a:srgbClr val="E8913A"/>
          </a:solidFill>
          <a:ln>
            <a:solidFill>
              <a:srgbClr val="E891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timing>
        <p:tnLst>
          <p:par>
            <p:cTn id="1" dur="indefinite" restart="never">
              <p:childTnLst>
                <p:seq concurrent="1" nextAc="seek">
                  <p:cTn id="2" dur="indefinite" nodeType="mainSeq">
                    <p:childTnLst>
                      <p:par>
                        <p:cTn id="101" fill="hold">
                          <p:stCondLst>
                            <p:cond delay="indefinite" evt="onClick"/>
                          </p:stCondLst>
                          <p:childTnLst>
                            <p:par>
                              <p:cTn id="201" fill="hold" presetClass="entr" presetID="1" presetSubtype="0">
                                <p:stCondLst>
                                  <p:cond delay="0"/>
                                </p:stCondLst>
                                <p:childTnLst>
                                  <p:set>
                                    <p:cBhvr override="childStyle">
                                      <p:cTn id="301" dur="500" fill="hold"/>
                                      <p:tgtEl>
                                        <p:spTgt spid="2"/>
                                      </p:tgtEl>
                                      <p:attrNameLst>
                                        <p:attrName>style.visibility</p:attrName>
                                      </p:attrNameLst>
                                    </p:cBhvr>
                                    <p:to>
                                      <p:strVal val="visible"/>
                                    </p:to>
                                  </p:set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</p:seq>
              </p:childTnLst>
            </p:cTn>
          </p:par>
        </p:tnLst>
      </p:timing>
    </p:spTree>
  </p:cSld>
  <p:clrMapOvr>
    <a:masterClrMapping/>
  </p:clrMapOvr>
  <p:transition spd="med">
    <p:fade/>
  </p:transition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27432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1B3A5C"/>
                </a:solidFill>
              </a:defRPr>
            </a:pPr>
            <a:r>
              <a:t>目录 CONTENTS</a:t>
            </a:r>
          </a:p>
        </p:txBody>
      </p:sp>
      <p:sp>
        <p:nvSpPr>
          <p:cNvPr id="3" name="Oval 2"/>
          <p:cNvSpPr/>
          <p:nvPr/>
        </p:nvSpPr>
        <p:spPr>
          <a:xfrm>
            <a:off x="1097280" y="1371600"/>
            <a:ext cx="457200" cy="457200"/>
          </a:xfrm>
          <a:prstGeom prst="ellipse">
            <a:avLst/>
          </a:prstGeom>
          <a:solidFill>
            <a:srgbClr val="1B3A5C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1371600"/>
            <a:ext cx="457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28800" y="137160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2D3748"/>
                </a:solidFill>
              </a:defRPr>
            </a:pPr>
            <a:r>
              <a:t>市场环境分析</a:t>
            </a:r>
          </a:p>
        </p:txBody>
      </p:sp>
      <p:sp>
        <p:nvSpPr>
          <p:cNvPr id="6" name="Oval 5"/>
          <p:cNvSpPr/>
          <p:nvPr/>
        </p:nvSpPr>
        <p:spPr>
          <a:xfrm>
            <a:off x="1097280" y="2194560"/>
            <a:ext cx="457200" cy="457200"/>
          </a:xfrm>
          <a:prstGeom prst="ellipse">
            <a:avLst/>
          </a:prstGeom>
          <a:solidFill>
            <a:srgbClr val="1B3A5C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7280" y="2194560"/>
            <a:ext cx="457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28800" y="219456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2D3748"/>
                </a:solidFill>
              </a:defRPr>
            </a:pPr>
            <a:r>
              <a:t>战略方向</a:t>
            </a:r>
          </a:p>
        </p:txBody>
      </p:sp>
      <p:sp>
        <p:nvSpPr>
          <p:cNvPr id="9" name="Oval 8"/>
          <p:cNvSpPr/>
          <p:nvPr/>
        </p:nvSpPr>
        <p:spPr>
          <a:xfrm>
            <a:off x="1097280" y="3017520"/>
            <a:ext cx="457200" cy="457200"/>
          </a:xfrm>
          <a:prstGeom prst="ellipse">
            <a:avLst/>
          </a:prstGeom>
          <a:solidFill>
            <a:srgbClr val="1B3A5C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97280" y="3017520"/>
            <a:ext cx="457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828800" y="301752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2D3748"/>
                </a:solidFill>
              </a:defRPr>
            </a:pPr>
            <a:r>
              <a:t>执行计划</a:t>
            </a:r>
          </a:p>
        </p:txBody>
      </p:sp>
      <p:sp>
        <p:nvSpPr>
          <p:cNvPr id="12" name="Oval 11"/>
          <p:cNvSpPr/>
          <p:nvPr/>
        </p:nvSpPr>
        <p:spPr>
          <a:xfrm>
            <a:off x="1097280" y="3840480"/>
            <a:ext cx="457200" cy="457200"/>
          </a:xfrm>
          <a:prstGeom prst="ellipse">
            <a:avLst/>
          </a:prstGeom>
          <a:solidFill>
            <a:srgbClr val="1B3A5C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97280" y="3840480"/>
            <a:ext cx="457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828800" y="384048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2D3748"/>
                </a:solidFill>
              </a:defRPr>
            </a:pPr>
            <a:r>
              <a:t>风险管控</a:t>
            </a:r>
          </a:p>
        </p:txBody>
      </p:sp>
    </p:spTree>
  </p:cSld>
  <p:clrMapOvr>
    <a:masterClrMapping/>
  </p:clrMapOvr>
  <p:transition spd="med">
    <p:push/>
  </p:transition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3A5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828800"/>
            <a:ext cx="73152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000" b="1">
                <a:solidFill>
                  <a:srgbClr val="FFFFFF"/>
                </a:solidFill>
              </a:defRPr>
            </a:pPr>
            <a:r>
              <a:t>市场环境分析</a:t>
            </a:r>
          </a:p>
        </p:txBody>
      </p:sp>
      <p:sp>
        <p:nvSpPr>
          <p:cNvPr id="3" name="Rectangle 2"/>
          <p:cNvSpPr/>
          <p:nvPr/>
        </p:nvSpPr>
        <p:spPr>
          <a:xfrm>
            <a:off x="3200400" y="1645920"/>
            <a:ext cx="2743200" cy="27432"/>
          </a:xfrm>
          <a:prstGeom prst="rect">
            <a:avLst/>
          </a:prstGeom>
          <a:solidFill>
            <a:srgbClr val="E8913A"/>
          </a:solidFill>
          <a:ln>
            <a:solidFill>
              <a:srgbClr val="E891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spd="med">
    <p:fade/>
  </p:transition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B3A5C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市场规模与趋势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82296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600">
                <a:solidFill>
                  <a:srgbClr val="2D3748"/>
                </a:solidFill>
              </a:defRPr>
            </a:pPr>
            <a:r>
              <a:t>• 全球市场规模预计达 $2.8万亿，年增长率 12%</a:t>
            </a:r>
          </a:p>
          <a:p>
            <a:pPr>
              <a:spcAft>
                <a:spcPts val="1200"/>
              </a:spcAft>
              <a:defRPr sz="1600">
                <a:solidFill>
                  <a:srgbClr val="2D3748"/>
                </a:solidFill>
              </a:defRPr>
            </a:pPr>
            <a:r>
              <a:t>• 亚太地区贡献 45% 的增长份额</a:t>
            </a:r>
          </a:p>
          <a:p>
            <a:pPr>
              <a:spcAft>
                <a:spcPts val="1200"/>
              </a:spcAft>
              <a:defRPr sz="1600">
                <a:solidFill>
                  <a:srgbClr val="2D3748"/>
                </a:solidFill>
              </a:defRPr>
            </a:pPr>
            <a:r>
              <a:t>• 数字化转型加速，企业级需求持续上升</a:t>
            </a:r>
          </a:p>
          <a:p>
            <a:pPr>
              <a:spcAft>
                <a:spcPts val="1200"/>
              </a:spcAft>
              <a:defRPr sz="1600">
                <a:solidFill>
                  <a:srgbClr val="2D3748"/>
                </a:solidFill>
              </a:defRPr>
            </a:pPr>
            <a:r>
              <a:t>• 竞争格局趋于稳定，头部效应明显</a:t>
            </a:r>
          </a:p>
        </p:txBody>
      </p:sp>
      <p:timing>
        <p:tnLst>
          <p:par>
            <p:cTn id="1" dur="indefinite" restart="never">
              <p:childTnLst>
                <p:seq concurrent="1" nextAc="seek">
                  <p:cTn id="2" dur="indefinite" nodeType="mainSeq">
                    <p:childTnLst>
                      <p:par>
                        <p:cTn id="101" fill="hold">
                          <p:stCondLst>
                            <p:cond delay="indefinite" evt="onClick"/>
                          </p:stCondLst>
                          <p:childTnLst>
                            <p:par>
                              <p:cTn id="201" fill="hold" presetClass="entr" presetID="1" presetSubtype="0">
                                <p:stCondLst>
                                  <p:cond delay="0"/>
                                </p:stCondLst>
                                <p:childTnLst>
                                  <p:set>
                                    <p:cBhvr override="childStyle">
                                      <p:cTn id="301" dur="500" fill="hold"/>
                                      <p:tgtEl>
                                        <p:spTgt spid="4"/>
                                      </p:tgtEl>
                                      <p:attrNameLst>
                                        <p:attrName>style.visibility</p:attrName>
                                      </p:attrNameLst>
                                    </p:cBhvr>
                                    <p:to>
                                      <p:strVal val="visible"/>
                                    </p:to>
                                  </p:set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</p:seq>
              </p:childTnLst>
            </p:cTn>
          </p:par>
        </p:tnLst>
      </p:timing>
    </p:spTree>
  </p:cSld>
  <p:clrMapOvr>
    <a:masterClrMapping/>
  </p:clrMapOvr>
  <p:transition spd="med">
    <p:wipe/>
  </p:transition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B3A5C"/>
                </a:solidFill>
              </a:defRPr>
            </a:pPr>
            <a:r>
              <a:t>关键数据指标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645920"/>
            <a:ext cx="2286000" cy="2286000"/>
          </a:xfrm>
          <a:prstGeom prst="rect">
            <a:avLst/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828800"/>
            <a:ext cx="22860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B3A5C"/>
                </a:solidFill>
              </a:defRPr>
            </a:pPr>
            <a:r>
              <a:t>$2.8T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560320"/>
            <a:ext cx="2286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>
                <a:solidFill>
                  <a:srgbClr val="2D3748"/>
                </a:solidFill>
              </a:defRPr>
            </a:pPr>
            <a:r>
              <a:t>市场规模</a:t>
            </a:r>
          </a:p>
        </p:txBody>
      </p:sp>
      <p:sp>
        <p:nvSpPr>
          <p:cNvPr id="6" name="Rectangle 5"/>
          <p:cNvSpPr/>
          <p:nvPr/>
        </p:nvSpPr>
        <p:spPr>
          <a:xfrm>
            <a:off x="3474720" y="1645920"/>
            <a:ext cx="2286000" cy="2286000"/>
          </a:xfrm>
          <a:prstGeom prst="rect">
            <a:avLst/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474720" y="1828800"/>
            <a:ext cx="22860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5B8DB8"/>
                </a:solidFill>
              </a:defRPr>
            </a:pPr>
            <a:r>
              <a:t>45%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474720" y="2560320"/>
            <a:ext cx="2286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>
                <a:solidFill>
                  <a:srgbClr val="2D3748"/>
                </a:solidFill>
              </a:defRPr>
            </a:pPr>
            <a:r>
              <a:t>亚太占比</a:t>
            </a:r>
          </a:p>
        </p:txBody>
      </p:sp>
      <p:sp>
        <p:nvSpPr>
          <p:cNvPr id="9" name="Rectangle 8"/>
          <p:cNvSpPr/>
          <p:nvPr/>
        </p:nvSpPr>
        <p:spPr>
          <a:xfrm>
            <a:off x="6217920" y="1645920"/>
            <a:ext cx="2286000" cy="2286000"/>
          </a:xfrm>
          <a:prstGeom prst="rect">
            <a:avLst/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217920" y="1828800"/>
            <a:ext cx="22860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E8913A"/>
                </a:solidFill>
              </a:defRPr>
            </a:pPr>
            <a:r>
              <a:t>99.9%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17920" y="2560320"/>
            <a:ext cx="2286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>
                <a:solidFill>
                  <a:srgbClr val="2D3748"/>
                </a:solidFill>
              </a:defRPr>
            </a:pPr>
            <a:r>
              <a:t>系统可用</a:t>
            </a:r>
          </a:p>
        </p:txBody>
      </p:sp>
    </p:spTree>
  </p:cSld>
  <p:clrMapOvr>
    <a:masterClrMapping/>
  </p:clrMapOvr>
  <p:transition spd="med">
    <p:fade/>
  </p:transition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3A5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828800"/>
            <a:ext cx="73152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000" b="1">
                <a:solidFill>
                  <a:srgbClr val="FFFFFF"/>
                </a:solidFill>
              </a:defRPr>
            </a:pPr>
            <a:r>
              <a:t>感谢聆听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20040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>
                <a:solidFill>
                  <a:srgbClr val="B0C4DE"/>
                </a:solidFill>
              </a:defRPr>
            </a:pPr>
            <a:r>
              <a:t>yzc-cn@qq.com</a:t>
            </a:r>
          </a:p>
        </p:txBody>
      </p:sp>
    </p:spTree>
  </p:cSld>
  <p:clrMapOvr>
    <a:masterClrMapping/>
  </p:clrMapOvr>
  <p:transition spd="med">
    <p:cover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